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</ns0:sldIdLst>
  <ns0:sldSz cx="12192000" cy="6858000" type="screen4x3"/>
  <ns0:notesSz cx="6858000" cy="9144000"/>
  <ns0:embeddedFontLst>
    <ns0:embeddedFont>
      <ns0:font typeface="JetBrains Mono"/>
      <ns0:bold ns1:id="rIdFont27"/>
      <ns0:regular ns1:id="rIdFont28"/>
    </ns0:embeddedFont>
    <ns0:embeddedFont>
      <ns0:font typeface="Space Grotesk"/>
      <ns0:bold ns1:id="rIdFont29"/>
    </ns0:embeddedFont>
    <ns0:embeddedFont>
      <ns0:font typeface="Plus Jakarta Sans"/>
      <ns0:bold ns1:id="rIdFont30"/>
      <ns0:regular ns1:id="rIdFont3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Font27" Type="http://schemas.openxmlformats.org/officeDocument/2006/relationships/font" Target="fonts/74011a4e-8321-4423-b9fe-821a173765d8.fntdata" /><ns0:Relationship Id="rIdFont28" Type="http://schemas.openxmlformats.org/officeDocument/2006/relationships/font" Target="fonts/dc1f5086-24a9-4418-8db8-cf4a4fcffca4.fntdata" /><ns0:Relationship Id="rIdFont29" Type="http://schemas.openxmlformats.org/officeDocument/2006/relationships/font" Target="fonts/ffc67464-a530-4d33-b649-9101f44896b9.fntdata" /><ns0:Relationship Id="rIdFont30" Type="http://schemas.openxmlformats.org/officeDocument/2006/relationships/font" Target="fonts/1c3256f6-2394-4767-b25e-88ed84097650.fntdata" /><ns0:Relationship Id="rIdFont31" Type="http://schemas.openxmlformats.org/officeDocument/2006/relationships/font" Target="fonts/8d8f9993-af6a-4904-8b6a-3bbe3b58bd0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495925"/>
            <a:ext cx="1066800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44075" y="533400"/>
            <a:ext cx="1685925" cy="285750"/>
          </a:xfrm>
          <a:prstGeom prst="roundRect">
            <a:avLst>
              <a:gd name="adj" fmla="val 20000"/>
            </a:avLst>
          </a:prstGeom>
          <a:solidFill>
            <a:srgbClr val="0A2329"/>
          </a:solidFill>
          <a:ln w="9525">
            <a:solidFill>
              <a:srgbClr val="20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49592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95312"/>
            <a:ext cx="5953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0D6C7"/>
                </a:solidFill>
                <a:latin typeface="JetBrains Mono"/>
              </a:rPr>
              <a:t>CSI3005 ADVANCED DATA VISUALIZATION | CASE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7425" y="590550"/>
            <a:ext cx="1514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0D6C7"/>
                </a:solidFill>
                <a:latin typeface="Plus Jakarta Sans"/>
              </a:rPr>
              <a:t>Vellore City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423666"/>
            <a:ext cx="11430000" cy="5914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8FAFC"/>
                </a:solidFill>
                <a:latin typeface="Space Grotesk"/>
              </a:rPr>
              <a:t>CITYPULSE 360°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167508"/>
            <a:ext cx="114300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Plus Jakarta Sans"/>
              </a:rPr>
              <a:t>A Data-Driven 360° View of Vellore City for Smarter Urban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34233"/>
            <a:ext cx="97631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Multidimensional interactive urban analytics dashboard built with R Shiny, Leaflet, and Plotly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734050"/>
            <a:ext cx="4953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RESEARCHER &amp;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915025"/>
            <a:ext cx="4953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Manthena Sri Adithya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153150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0D6C7"/>
                </a:solidFill>
                <a:latin typeface="JetBrains Mono"/>
              </a:rPr>
              <a:t>24MID0177 • manthena.sriadithya2024@vitstudent.ac.in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9468" y="5781675"/>
            <a:ext cx="4250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64748B"/>
                </a:solidFill>
                <a:latin typeface="Plus Jakarta Sans"/>
              </a:rPr>
              <a:t>ACADEMIC MENTOR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9468" y="5962650"/>
            <a:ext cx="425053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275" i="0" u="none">
                <a:solidFill>
                  <a:srgbClr val="E2E8F0"/>
                </a:solidFill>
                <a:latin typeface="Plus Jakarta Sans"/>
              </a:rPr>
              <a:t>Dr. Yuvaraj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9468" y="6172200"/>
            <a:ext cx="4250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64748B"/>
                </a:solidFill>
                <a:latin typeface="Plus Jakarta Sans"/>
              </a:rPr>
              <a:t>School of Computer Science and Engineering (SCOPE), VIT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24550"/>
            <a:ext cx="10820400" cy="438150"/>
          </a:xfrm>
          <a:prstGeom prst="roundRect">
            <a:avLst>
              <a:gd name="adj" fmla="val 8695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539305"/>
            <a:ext cx="3454449" cy="1990725"/>
          </a:xfrm>
          <a:prstGeom prst="roundRect">
            <a:avLst>
              <a:gd name="adj" fmla="val 5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639317"/>
            <a:ext cx="3454449" cy="179070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639317"/>
            <a:ext cx="3454449" cy="179070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924550"/>
            <a:ext cx="38100" cy="438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81553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2915542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291554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2910780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037" y="3010792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3010792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01.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Executive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57900"/>
            <a:ext cx="11277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Core Contribution: Transforming static municipal reporting into exploratory geospatial discovery and multi-indicator decision support.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348930"/>
            <a:ext cx="3808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Unified Urban Lens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3653730"/>
            <a:ext cx="299724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Integrates fragmented municipal domains into a singular, responsive visualization environment.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074" y="3448942"/>
            <a:ext cx="3808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Vellore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074" y="3753742"/>
            <a:ext cx="29972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Monitors 8 strategic urban zones across 6 core infrastructure and quality-of-life dimensions.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124" y="3448942"/>
            <a:ext cx="3808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Quality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8124" y="3753742"/>
            <a:ext cx="29972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Embeds dynamic CSV validation and statistical hygiene before any chart or map render.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0"/>
            <a:ext cx="10820400" cy="4572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463403"/>
            <a:ext cx="5257800" cy="2123479"/>
          </a:xfrm>
          <a:prstGeom prst="roundRect">
            <a:avLst>
              <a:gd name="adj" fmla="val 538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343447"/>
            <a:ext cx="5257800" cy="2363390"/>
          </a:xfrm>
          <a:prstGeom prst="roundRect">
            <a:avLst>
              <a:gd name="adj" fmla="val 483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753915"/>
            <a:ext cx="20955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633960"/>
            <a:ext cx="20955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02.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The Urban Planning Dilemma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6048375"/>
            <a:ext cx="11306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Goal: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Bridging the gap between raw urban measurements and intuitive, interactive visual narratives for planners.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875" y="2739628"/>
            <a:ext cx="23002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Current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112055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475" y="3111103"/>
            <a:ext cx="4629150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7F1D1D"/>
                </a:solidFill>
                <a:latin typeface="Plus Jakarta Sans"/>
              </a:rPr>
              <a:t>Siloed Data: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 Municipal traffic, water, and sanitation kept in isolated spreadsheets.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591877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475" y="3590925"/>
            <a:ext cx="5667375" cy="23991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7F1D1D"/>
                </a:solidFill>
                <a:latin typeface="Plus Jakarta Sans"/>
              </a:rPr>
              <a:t>Static Reports: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 Lack dynamic filtering across locations and date intervals.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3831788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475" y="3830835"/>
            <a:ext cx="4629150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7F1D1D"/>
                </a:solidFill>
                <a:latin typeface="Plus Jakarta Sans"/>
              </a:rPr>
              <a:t>Spatial Disconnect:</a:t>
            </a:r>
            <a:r>
              <a:rPr b="0" sz="1050" i="0" u="none">
                <a:solidFill>
                  <a:srgbClr val="7F1D1D"/>
                </a:solidFill>
                <a:latin typeface="Plus Jakarta Sans"/>
              </a:rPr>
              <a:t> Inability to correlate statistical indicators with physical geography.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475" y="2619672"/>
            <a:ext cx="303787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Plus Jakarta Sans"/>
              </a:rPr>
              <a:t>CityPulse 360°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9875" y="2992100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5" y="2991147"/>
            <a:ext cx="4629150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14532D"/>
                </a:solidFill>
                <a:latin typeface="Plus Jakarta Sans"/>
              </a:rPr>
              <a:t>Unified Interface:</a:t>
            </a:r>
            <a:r>
              <a:rPr b="0" sz="1050" i="0" u="none">
                <a:solidFill>
                  <a:srgbClr val="14532D"/>
                </a:solidFill>
                <a:latin typeface="Plus Jakarta Sans"/>
              </a:rPr>
              <a:t> Simultaneous multi-criteria exploration on a single screen.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9875" y="3471922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3470969"/>
            <a:ext cx="4629150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14532D"/>
                </a:solidFill>
                <a:latin typeface="Plus Jakarta Sans"/>
              </a:rPr>
              <a:t>Dynamic Cartography:</a:t>
            </a:r>
            <a:r>
              <a:rPr b="0" sz="1050" i="0" u="none">
                <a:solidFill>
                  <a:srgbClr val="14532D"/>
                </a:solidFill>
                <a:latin typeface="Plus Jakarta Sans"/>
              </a:rPr>
              <a:t> 12 bespoke spatial rendering methods on interactive basemaps.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3951743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6075" y="3950791"/>
            <a:ext cx="4629150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14532D"/>
                </a:solidFill>
                <a:latin typeface="Plus Jakarta Sans"/>
              </a:rPr>
              <a:t>Data Hygiene:</a:t>
            </a:r>
            <a:r>
              <a:rPr b="0" sz="1050" i="0" u="none">
                <a:solidFill>
                  <a:srgbClr val="14532D"/>
                </a:solidFill>
                <a:latin typeface="Plus Jakarta Sans"/>
              </a:rPr>
              <a:t> Proactive schema, duplicate, and outlier detection engines.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0"/>
            <a:ext cx="10820400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717899"/>
            <a:ext cx="2562225" cy="1652587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38525" y="2717899"/>
            <a:ext cx="2562225" cy="1652587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717899"/>
            <a:ext cx="2562225" cy="1652587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43975" y="2717899"/>
            <a:ext cx="2562225" cy="1652587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" y="2975074"/>
            <a:ext cx="552450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76650" y="2975074"/>
            <a:ext cx="552450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29375" y="2975074"/>
            <a:ext cx="552450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2100" y="2975074"/>
            <a:ext cx="552450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03.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Core System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6076950"/>
            <a:ext cx="113157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Ethical Stance: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Explicitly designed as an analytical demonstration prototype, clearly distinguishing synthetic models from certified city statistics.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003649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OBJ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289399"/>
            <a:ext cx="273784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Interactive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575149"/>
            <a:ext cx="21812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Build a reactive R Shiny application connecting controls, maps, and statistical outputs.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2850" y="3003649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OBJ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6650" y="3289399"/>
            <a:ext cx="273784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Spatial Cartography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6650" y="3575149"/>
            <a:ext cx="21812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Visualize spatial differences using Leaflet with Voronoi and Hexagonal Tessellation.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3003649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OBJ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289399"/>
            <a:ext cx="273784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Data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3575149"/>
            <a:ext cx="21812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Detect missing values, duplicate observations, and invalid date formats before rendering.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300" y="3003649"/>
            <a:ext cx="495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OBJ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2100" y="3289399"/>
            <a:ext cx="273784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Exploratory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2100" y="3575149"/>
            <a:ext cx="21812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Provide correlation matrices, box plots, and multivariate scatter plots for deep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81700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563117"/>
            <a:ext cx="3501925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0125" y="2563117"/>
            <a:ext cx="3501925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94451" y="2563117"/>
            <a:ext cx="3501925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639442"/>
            <a:ext cx="3501925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0125" y="3639442"/>
            <a:ext cx="3501925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94451" y="3639442"/>
            <a:ext cx="3501925" cy="923925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477517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563117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563117"/>
            <a:ext cx="38100" cy="9239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78200" y="2563117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0125" y="3477517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0125" y="2563117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0125" y="2563117"/>
            <a:ext cx="38100" cy="9239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32526" y="2563117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4451" y="3477517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4451" y="2563117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4451" y="2563117"/>
            <a:ext cx="38100" cy="9239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86852" y="2563117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553842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639442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639442"/>
            <a:ext cx="38100" cy="92392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78200" y="3639442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0125" y="4553842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0125" y="3639442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0125" y="3639442"/>
            <a:ext cx="38100" cy="923925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32526" y="3639442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4451" y="4553842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4451" y="3639442"/>
            <a:ext cx="3501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4451" y="3639442"/>
            <a:ext cx="38100" cy="9239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86852" y="3639442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04. TAXONOMY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The 6 Urban Dimensions &amp; 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300" y="6096000"/>
            <a:ext cx="113157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Total of </a:t>
            </a:r>
            <a:r>
              <a:rPr b="1" sz="975" i="0" u="none">
                <a:solidFill>
                  <a:srgbClr val="475569"/>
                </a:solidFill>
                <a:latin typeface="Plus Jakarta Sans"/>
              </a:rPr>
              <a:t>18 targeted indicators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, balanced evenly across key civic operational pillars.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350" y="2744092"/>
            <a:ext cx="408371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01 Mobility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350" y="3001267"/>
            <a:ext cx="3206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Traffic Volume • Travel Time • Congestion Index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9675" y="2744092"/>
            <a:ext cx="408371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5F46"/>
                </a:solidFill>
                <a:latin typeface="Plus Jakarta Sans"/>
              </a:rPr>
              <a:t>02 Cleanliness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9675" y="3001267"/>
            <a:ext cx="3889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Waste Collected • Segregation % • Waste Issues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4001" y="2744092"/>
            <a:ext cx="398799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2400E"/>
                </a:solidFill>
                <a:latin typeface="Plus Jakarta Sans"/>
              </a:rPr>
              <a:t>03 Water Services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4001" y="3001267"/>
            <a:ext cx="3889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Water Supply • Water Quality • Leakage Reports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350" y="3820417"/>
            <a:ext cx="408371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5B21B6"/>
                </a:solidFill>
                <a:latin typeface="Plus Jakarta Sans"/>
              </a:rPr>
              <a:t>04 Environment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350" y="4077592"/>
            <a:ext cx="3889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Air Quality Index • Green Cover • Noise Level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9675" y="3820417"/>
            <a:ext cx="408371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D174D"/>
                </a:solidFill>
                <a:latin typeface="Plus Jakarta Sans"/>
              </a:rPr>
              <a:t>05 Public Facilities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9675" y="4077592"/>
            <a:ext cx="3206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Streetlights • Healthcare Access • Service Requests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04001" y="3820417"/>
            <a:ext cx="398799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5E75"/>
                </a:solidFill>
                <a:latin typeface="Plus Jakarta Sans"/>
              </a:rPr>
              <a:t>06 Development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4001" y="4077592"/>
            <a:ext cx="3206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JetBrains Mono"/>
              </a:rPr>
              <a:t>Road Quality • Construction Sites • Digital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34075"/>
            <a:ext cx="10820400" cy="428625"/>
          </a:xfrm>
          <a:prstGeom prst="roundRect">
            <a:avLst>
              <a:gd name="adj" fmla="val 1777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708820"/>
            <a:ext cx="5257800" cy="1661219"/>
          </a:xfrm>
          <a:prstGeom prst="roundRect">
            <a:avLst>
              <a:gd name="adj" fmla="val 68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338685"/>
            <a:ext cx="5257800" cy="2401490"/>
          </a:xfrm>
          <a:prstGeom prst="roundRect">
            <a:avLst>
              <a:gd name="adj" fmla="val 4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461295"/>
            <a:ext cx="3075830" cy="2086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736627"/>
            <a:ext cx="2360414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05. DATA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Dataset Architecture &amp; Record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6067425"/>
            <a:ext cx="113157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Reproducibility: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Generated with fixed pseudo-random seeds (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set.seed(360)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) to ensure consistent validation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985045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Combinatorial Record Derivation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908077"/>
            <a:ext cx="5881687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Span: Monthly series from 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Jan 2025 through Sep 2026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(21 observation periods).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614910"/>
            <a:ext cx="5667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Schema 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9875" y="2968287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6075" y="2967335"/>
            <a:ext cx="5495925" cy="24943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dimension: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Thematic urban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3217723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75" y="3216771"/>
            <a:ext cx="5495925" cy="24943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location: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Monitored Vellore 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3467159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75" y="3466207"/>
            <a:ext cx="5495925" cy="24943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indicator: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Specific metric being recorded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9875" y="3716595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6075" y="3715642"/>
            <a:ext cx="5495925" cy="24943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date: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Temporal timestamp (YYYY-MM-DD)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9875" y="3966031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6075" y="3965078"/>
            <a:ext cx="5495925" cy="24943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value: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Numerical observation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4215467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6075" y="4214514"/>
            <a:ext cx="5495925" cy="24943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source: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Origin metadata label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019800"/>
            <a:ext cx="10820400" cy="3429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986855"/>
          <a:ext cx="10820397" cy="31908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614362"/>
                <a:gridCol w="2053083"/>
                <a:gridCol w="1723429"/>
                <a:gridCol w="1873299"/>
                <a:gridCol w="4556224"/>
              </a:tblGrid>
              <a:tr h="35454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#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Location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Latitude (°N)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Longitude (°E)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Civic Role / Characteristics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54541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Katpadi Junction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12.9692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79.1453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Primary rail transit gateway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4541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VIT Area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12.9698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79.1559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High student density educational cluster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4541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Gandhi Nagar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12.9793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79.1425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Established commercial &amp; residential hub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4541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Sathuvachari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12.9345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79.1335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District administrative headquarters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4541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Bagayam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12.8882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79.1337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Southern residential &amp; medical sub-center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4541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Thorapadi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12.9005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79.1157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Institutional and prison perimeter corridor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4541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Town Centre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12.9165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79.1325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Historic core &amp; dense retail marketplace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4547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CMC Area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12.9239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79.1355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Hospital zone with intense pedestrian flow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06. SPATIAL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8 Vellore Monitored Coordinates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6115050"/>
            <a:ext cx="1133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Note: Exact coordinate geometry can be extended to polygon ward boundaries upon municipal shapefile ingestion.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0"/>
            <a:ext cx="10820400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586930"/>
            <a:ext cx="3454449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586930"/>
            <a:ext cx="3454449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586930"/>
            <a:ext cx="3454449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863155"/>
            <a:ext cx="3905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2863155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2863155"/>
            <a:ext cx="390525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07.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System 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6076950"/>
            <a:ext cx="7143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Additional Libraries: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DT (DataTables), HTML5/CSS3 Custom Glassmorphism Theme, JavaScript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800" y="6076950"/>
            <a:ext cx="2333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284C7"/>
                </a:solidFill>
                <a:latin typeface="JetBrains Mono"/>
              </a:rPr>
              <a:t>Obsidian Cyber-Glass Dark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320355"/>
            <a:ext cx="3808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R &amp; Shiny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625155"/>
            <a:ext cx="299724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Reactive web server runtime linking user inputs, statistical filters, and asynchronous updates.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074" y="3320355"/>
            <a:ext cx="3808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Plotly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074" y="3625155"/>
            <a:ext cx="299724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Client-side WebGL charting engine enabling interactive tooltips, crosshair zooming, and click 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320355"/>
            <a:ext cx="3808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Leaflet 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3625155"/>
            <a:ext cx="299724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Interactive multi-layer cartography supporting OSM tiles, Esri satellite, and dynamic SVG vectors.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0"/>
            <a:ext cx="10820400" cy="419100"/>
          </a:xfrm>
          <a:prstGeom prst="roundRect">
            <a:avLst>
              <a:gd name="adj" fmla="val 909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853630"/>
            <a:ext cx="204221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419" y="2853630"/>
            <a:ext cx="204221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75039" y="2853630"/>
            <a:ext cx="204221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69658" y="2853630"/>
            <a:ext cx="204221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64278" y="2853630"/>
            <a:ext cx="204221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943600"/>
            <a:ext cx="38100" cy="419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825" y="3091755"/>
            <a:ext cx="581025" cy="17145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80444" y="3091755"/>
            <a:ext cx="581025" cy="17145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75064" y="3091755"/>
            <a:ext cx="581025" cy="17145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69683" y="3091755"/>
            <a:ext cx="581025" cy="17145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64303" y="3091755"/>
            <a:ext cx="581025" cy="17145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08. DATA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7-Tier Data Validation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76950"/>
            <a:ext cx="11277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Clean Data Philosophy:</a:t>
            </a:r>
            <a:r>
              <a:rPr b="0" sz="975" i="0" u="none">
                <a:solidFill>
                  <a:srgbClr val="1E40AF"/>
                </a:solidFill>
                <a:latin typeface="Plus Jakarta Sans"/>
              </a:rPr>
              <a:t> Missing values are flagged explicitly rather than silently imputed to 0, preventing false statistical biases.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3110805"/>
            <a:ext cx="561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JetBrains Mono"/>
              </a:rPr>
              <a:t>STAGE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348930"/>
            <a:ext cx="21553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Plus Jakarta Sans"/>
              </a:rPr>
              <a:t>Schema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606105"/>
            <a:ext cx="173741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Ensures 6 mandatory column keys exist before parsing.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7594" y="3110805"/>
            <a:ext cx="561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JetBrains Mono"/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0444" y="3348930"/>
            <a:ext cx="21553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Plus Jakarta Sans"/>
              </a:rPr>
              <a:t>Date Parsing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0444" y="3606105"/>
            <a:ext cx="173741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Validates strict YYYY-MM-DD formats; flags bad timestamps.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2214" y="3110805"/>
            <a:ext cx="561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JetBrains Mono"/>
              </a:rPr>
              <a:t>STAGE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5064" y="3348930"/>
            <a:ext cx="21553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Plus Jakarta Sans"/>
              </a:rPr>
              <a:t>Plausibility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5064" y="3606105"/>
            <a:ext cx="173741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Tests values against boundary thresholds (e.g. AQI 0-1000).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6833" y="3110805"/>
            <a:ext cx="561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JetBrains Mono"/>
              </a:rP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9683" y="3348930"/>
            <a:ext cx="21553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Plus Jakarta Sans"/>
              </a:rPr>
              <a:t>Deduplication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9683" y="3606105"/>
            <a:ext cx="173741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Identifies duplicate observations per zone-dimension-date.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1453" y="3110805"/>
            <a:ext cx="561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JetBrains Mono"/>
              </a:rPr>
              <a:t>STAGE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4303" y="3348930"/>
            <a:ext cx="21553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Plus Jakarta Sans"/>
              </a:rPr>
              <a:t>Unit Standard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4303" y="3606105"/>
            <a:ext cx="173741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Checks consistent metric units across inputs.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451"/>
            <a:ext cx="10820400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781300"/>
            <a:ext cx="3454449" cy="1525637"/>
          </a:xfrm>
          <a:prstGeom prst="roundRect">
            <a:avLst>
              <a:gd name="adj" fmla="val 74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781300"/>
            <a:ext cx="3454449" cy="1525637"/>
          </a:xfrm>
          <a:prstGeom prst="roundRect">
            <a:avLst>
              <a:gd name="adj" fmla="val 74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781300"/>
            <a:ext cx="3454449" cy="1525637"/>
          </a:xfrm>
          <a:prstGeom prst="roundRect">
            <a:avLst>
              <a:gd name="adj" fmla="val 74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071812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3071812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3071812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09. VISUALIZATIONS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Statistical Visualization Modalities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6076801"/>
            <a:ext cx="113157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Perceptual Design: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Uses color ramps tested for color-vision accessibility with clear luminance scales.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390900"/>
            <a:ext cx="29972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Horizontal and vertical sorted bar rankings displaying aggregate averages across municipal zones.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3390900"/>
            <a:ext cx="29972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Multi-line temporal trajectories mapping monthly evolution (Jan 2025 – Sep 2026) with anomaly markers.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390900"/>
            <a:ext cx="29972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Z-score normalized color matrices enabling comparison between metrics with disparate units.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3057525"/>
            <a:ext cx="19502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Comparative Bars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0824" y="3057525"/>
            <a:ext cx="21752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Time-Series Curves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4824" y="3057525"/>
            <a:ext cx="262532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Standardized Heatmaps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81700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931021"/>
            <a:ext cx="3505200" cy="1264443"/>
          </a:xfrm>
          <a:prstGeom prst="roundRect">
            <a:avLst>
              <a:gd name="adj" fmla="val 6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31021"/>
            <a:ext cx="3505200" cy="1264443"/>
          </a:xfrm>
          <a:prstGeom prst="roundRect">
            <a:avLst>
              <a:gd name="adj" fmla="val 6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1000" y="2931021"/>
            <a:ext cx="3505200" cy="1264443"/>
          </a:xfrm>
          <a:prstGeom prst="roundRect">
            <a:avLst>
              <a:gd name="adj" fmla="val 6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10. CARTOGRAPHY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12 Advanced Geospatial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6096000"/>
            <a:ext cx="1133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Plus Jakarta Sans"/>
              </a:rPr>
              <a:t>Zero Heavy GIS Bloat:</a:t>
            </a:r>
            <a:r>
              <a:rPr b="0" sz="975" i="0" u="none">
                <a:solidFill>
                  <a:srgbClr val="1E40AF"/>
                </a:solidFill>
                <a:latin typeface="Plus Jakarta Sans"/>
              </a:rPr>
              <a:t> Implemented with pure mathematical R algorithms (Sutherland-Hodgman polygon clipping, Bezier equations).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092946"/>
            <a:ext cx="3976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JetBrains Mono"/>
              </a:rPr>
              <a:t>01-04 Point &amp;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5325" y="3092946"/>
            <a:ext cx="3976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JetBrains Mono"/>
              </a:rPr>
              <a:t>05-08 Density &amp; 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2925" y="3092946"/>
            <a:ext cx="3976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JetBrains Mono"/>
              </a:rPr>
              <a:t>09-12 Flow &amp;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303448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302496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Radar Point Glow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486209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3485257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Dual-Ring Proportional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668970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3668017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Marker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851731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3850778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Catchment Voronoi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3303448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8675" y="3302496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Cartogram Distortion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3486209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8675" y="3485257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Hexagonal Binning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525" y="3668970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8675" y="3668017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Gaussian Heat Surface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525" y="3851731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8675" y="3850778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Hypsometric Contours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9125" y="3303448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6275" y="3302496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Curved Bezier Arcs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9125" y="3486209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6275" y="3485257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Radial Starburst Spider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9125" y="3668970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6275" y="3668017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Time-Space Trajectory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9125" y="3851731"/>
            <a:ext cx="571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6275" y="3850778"/>
            <a:ext cx="3810000" cy="18276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Attribute Network Graph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81700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773263"/>
            <a:ext cx="5276850" cy="1579959"/>
          </a:xfrm>
          <a:prstGeom prst="roundRect">
            <a:avLst>
              <a:gd name="adj" fmla="val 72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2855565"/>
            <a:ext cx="5276850" cy="1415206"/>
          </a:xfrm>
          <a:prstGeom prst="roundRect">
            <a:avLst>
              <a:gd name="adj" fmla="val 80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744813"/>
            <a:ext cx="2077342" cy="21788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3707755"/>
            <a:ext cx="1946969" cy="182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11. MATHEMATICAL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Voronoi &amp; Hexagonal Tessellation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6096000"/>
            <a:ext cx="1133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Advantage: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Eliminates GIS library dependencies like GDAL or GEOS, enabling lightweight, pure-R browser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011388"/>
            <a:ext cx="63007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Sutherland-Hodgman Half-Plane Clipping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325713"/>
            <a:ext cx="4895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Generates Voronoi boundaries around points by clipping the bounding box against perpendicular bisectors: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962697"/>
            <a:ext cx="600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Clipping condition: </a:t>
            </a:r>
            <a:r>
              <a:rPr b="0" sz="900" i="0" u="none">
                <a:solidFill>
                  <a:srgbClr val="64748B"/>
                </a:solidFill>
                <a:latin typeface="Plus Jakarta Sans"/>
              </a:rPr>
              <a:t>dx*(pt.y - p1.y) - dy*(pt.x - p1.x) ≥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3093690"/>
            <a:ext cx="57245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Hexagonal Mesh Tessellation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3408015"/>
            <a:ext cx="5724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Dynamic hex grid generation adapting cell radius dynamically to current map zoom: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889771"/>
            <a:ext cx="57245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Inverse distance weighted interpolation computes cell values from neighboring sensors.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81700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827734"/>
            <a:ext cx="5276850" cy="1471017"/>
          </a:xfrm>
          <a:prstGeom prst="roundRect">
            <a:avLst>
              <a:gd name="adj" fmla="val 77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2858392"/>
            <a:ext cx="527685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646884"/>
            <a:ext cx="1155799" cy="2613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3683049"/>
            <a:ext cx="2894558" cy="194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12. SPATIAL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Spatial Flow &amp; Geodesic Proximity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6096000"/>
            <a:ext cx="1133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Application: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Models connectivity between Katpadi rail transit and the southern Bagayam healthcare zone.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065859"/>
            <a:ext cx="63007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Great-Circle Geodesic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380184"/>
            <a:ext cx="600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Haversine distance formulation matrix computed between all 8 urban locations: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908226"/>
            <a:ext cx="600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Visualized as an interactive 8×8 inter-sector distance heatmap in kilometers.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3096517"/>
            <a:ext cx="57245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Quadratic Bezier Movement Curves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3410842"/>
            <a:ext cx="5724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Parametric flow arcs representing directional transit flows across corridors: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877567"/>
            <a:ext cx="57245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Dynamic curvature ensures transit lines remain visually distinct when overlapping.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81551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652712"/>
            <a:ext cx="3454449" cy="1820912"/>
          </a:xfrm>
          <a:prstGeom prst="roundRect">
            <a:avLst>
              <a:gd name="adj" fmla="val 6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652712"/>
            <a:ext cx="3454449" cy="1820912"/>
          </a:xfrm>
          <a:prstGeom prst="roundRect">
            <a:avLst>
              <a:gd name="adj" fmla="val 6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652712"/>
            <a:ext cx="3454449" cy="1820912"/>
          </a:xfrm>
          <a:prstGeom prst="roundRect">
            <a:avLst>
              <a:gd name="adj" fmla="val 6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2025" y="4006899"/>
            <a:ext cx="168592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45074" y="4006899"/>
            <a:ext cx="1885950" cy="22860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8124" y="4006899"/>
            <a:ext cx="1685925" cy="228600"/>
          </a:xfrm>
          <a:prstGeom prst="roundRect">
            <a:avLst>
              <a:gd name="adj" fmla="val 1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13. ADVANCED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Visual Analytics Lab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6095851"/>
            <a:ext cx="1133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Statistical Hygiene: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Includes reminder labels cautioning users that correlation between indicators does not prove causation.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2928937"/>
            <a:ext cx="38088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Correlation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243262"/>
            <a:ext cx="29972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Computes pairwise Pearson correlation coefficients across numerical indicators within any urban dimension.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4044999"/>
            <a:ext cx="1628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284C7"/>
                </a:solidFill>
                <a:latin typeface="JetBrains Mono"/>
              </a:rPr>
              <a:t>z-range: -1.00 to +1.00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074" y="2928937"/>
            <a:ext cx="38088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Distribution Histograms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074" y="3243262"/>
            <a:ext cx="29972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Overlaid multi-location histogram distributions with 22 dynamic bins for spotting skewness and modes.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1274" y="4044999"/>
            <a:ext cx="1828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Bimodal &amp; Outlier Spotting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2928937"/>
            <a:ext cx="38088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Multivariate Scatter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124" y="3243262"/>
            <a:ext cx="29972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Direct bivariate exploration linking two indicators simultaneously across monitored sectors.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324" y="4044999"/>
            <a:ext cx="1628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8B5CF6"/>
                </a:solidFill>
                <a:latin typeface="JetBrains Mono"/>
              </a:rPr>
              <a:t>Interactive Cross-Hover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81700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610742"/>
            <a:ext cx="5476428" cy="190500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67028" y="2558653"/>
            <a:ext cx="5039171" cy="2009179"/>
          </a:xfrm>
          <a:prstGeom prst="roundRect">
            <a:avLst>
              <a:gd name="adj" fmla="val 56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8753" y="2972692"/>
            <a:ext cx="904875" cy="200025"/>
          </a:xfrm>
          <a:prstGeom prst="roundRect">
            <a:avLst>
              <a:gd name="adj" fmla="val 50000"/>
            </a:avLst>
          </a:prstGeom>
          <a:solidFill>
            <a:srgbClr val="3C202F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848992"/>
            <a:ext cx="1622226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12826" y="3848992"/>
            <a:ext cx="1622226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1253" y="3848992"/>
            <a:ext cx="1622226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14. INTERACTION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Interactive Location Intelligence Dossier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6096000"/>
            <a:ext cx="1133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Provides immediate visual feedback when switching between bird's-eye city statistics and micro-neighborhood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44192"/>
            <a:ext cx="627403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Primary Metric: </a:t>
            </a:r>
            <a:r>
              <a:rPr b="1" sz="975" i="0" u="none">
                <a:solidFill>
                  <a:srgbClr val="20D6C7"/>
                </a:solidFill>
                <a:latin typeface="Plus Jakarta Sans"/>
              </a:rPr>
              <a:t>Traffic Volume = 78.0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(#1 of 8 locations).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153" y="2796778"/>
            <a:ext cx="54868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Bidirectional Reactive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9342"/>
            <a:ext cx="206692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38BDF8"/>
                </a:solidFill>
                <a:latin typeface="Plus Jakarta Sans"/>
              </a:rPr>
              <a:t>SECTOR DOSSIER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4003" y="3001267"/>
            <a:ext cx="809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87171"/>
                </a:solidFill>
                <a:latin typeface="Plus Jakarta Sans"/>
              </a:rPr>
              <a:t>Peak Hotspot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0403" y="3131105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603" y="3130153"/>
            <a:ext cx="4486721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Map Marker Click: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Dynamically updates the sector dossier and flies to location.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0403" y="3610927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603" y="3609975"/>
            <a:ext cx="5315396" cy="23991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Ranking Chart Click: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Syncs map center and highlights ranking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0403" y="3850838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603" y="3849885"/>
            <a:ext cx="4486721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Filter Entire Dashboard: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Deep-links the selected sector into every analysis tab.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39367"/>
            <a:ext cx="258782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Bagayam Spotlight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871" y="3925192"/>
            <a:ext cx="183728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Plus Jakarta Sans"/>
              </a:rPr>
              <a:t>MOBILITY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871" y="4039492"/>
            <a:ext cx="183728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JetBrains Mono"/>
              </a:rPr>
              <a:t>82.4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5298" y="3925192"/>
            <a:ext cx="183728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Plus Jakarta Sans"/>
              </a:rPr>
              <a:t>WATER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5298" y="4039492"/>
            <a:ext cx="183728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0D6C7"/>
                </a:solidFill>
                <a:latin typeface="JetBrains Mono"/>
              </a:rPr>
              <a:t>68.1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3724" y="3925192"/>
            <a:ext cx="183728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Plus Jakarta Sans"/>
              </a:rPr>
              <a:t>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3724" y="4039492"/>
            <a:ext cx="183728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A78BFA"/>
                </a:solidFill>
                <a:latin typeface="JetBrains Mono"/>
              </a:rPr>
              <a:t>74.9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81700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825055"/>
            <a:ext cx="347975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825055"/>
            <a:ext cx="347975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732186"/>
            <a:ext cx="3479750" cy="1662112"/>
          </a:xfrm>
          <a:prstGeom prst="roundRect">
            <a:avLst>
              <a:gd name="adj" fmla="val 68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6318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75" y="306318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2970311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15.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Key Analytical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6096000"/>
            <a:ext cx="1133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Methodological takeaway: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Combining statistical rigor with spatial context prevents premature policy conclusions.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406080"/>
            <a:ext cx="394209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Cross-Domain 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91830"/>
            <a:ext cx="30987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Simultaneous viewing of mobility and environment uncovers patterns invisible in isolated reports.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175" y="3406080"/>
            <a:ext cx="394209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Spatial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175" y="3691830"/>
            <a:ext cx="30987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Voronoi partitioning identifies clear regional divides between North (transit) and South (medical) hubs.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425" y="3313211"/>
            <a:ext cx="392757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Pre-Filtering Hygiene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425" y="3598961"/>
            <a:ext cx="3098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Automated schema validation prevented plotting distorted aggregations from corrupt or blank CSV entries.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81700"/>
            <a:ext cx="10820400" cy="381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946499"/>
            <a:ext cx="3479750" cy="1233487"/>
          </a:xfrm>
          <a:prstGeom prst="roundRect">
            <a:avLst>
              <a:gd name="adj" fmla="val 77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946499"/>
            <a:ext cx="3479750" cy="1233487"/>
          </a:xfrm>
          <a:prstGeom prst="roundRect">
            <a:avLst>
              <a:gd name="adj" fmla="val 77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946499"/>
            <a:ext cx="3479750" cy="1233487"/>
          </a:xfrm>
          <a:prstGeom prst="roundRect">
            <a:avLst>
              <a:gd name="adj" fmla="val 77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981700"/>
            <a:ext cx="38100" cy="381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16. POLICY &amp;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Planning Recommendations for Vellore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6096000"/>
            <a:ext cx="11296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40AF"/>
                </a:solidFill>
                <a:latin typeface="Plus Jakarta Sans"/>
              </a:rPr>
              <a:t>Transforming CityPulse 360° from an academic demonstration into a production-grade municipal operations platform.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146524"/>
            <a:ext cx="40421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1. Connect Live IoT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422749"/>
            <a:ext cx="31749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Transition from monthly CSV uploads to live streams from Tamil Nadu pollution boards and traffic cameras.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3146524"/>
            <a:ext cx="40421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2. Standardize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3422749"/>
            <a:ext cx="3174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Establish certified municipal warning levels for air quality and water pressure rather than arbitrary values.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325" y="3146524"/>
            <a:ext cx="396567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3. Integrate Ward GeoJSON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6325" y="3422749"/>
            <a:ext cx="3174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Replace approximate coordinate points with surveyed administrative ward boundary polygons.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62650"/>
            <a:ext cx="10820400" cy="40005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882205"/>
            <a:ext cx="3479750" cy="1343025"/>
          </a:xfrm>
          <a:prstGeom prst="roundRect">
            <a:avLst>
              <a:gd name="adj" fmla="val 709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882205"/>
            <a:ext cx="3479750" cy="1343025"/>
          </a:xfrm>
          <a:prstGeom prst="roundRect">
            <a:avLst>
              <a:gd name="adj" fmla="val 709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882205"/>
            <a:ext cx="3479750" cy="1343025"/>
          </a:xfrm>
          <a:prstGeom prst="roundRect">
            <a:avLst>
              <a:gd name="adj" fmla="val 709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20330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075" y="3120330"/>
            <a:ext cx="1238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325" y="3120330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17. SELF-ASSESSMENT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Project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6086475"/>
            <a:ext cx="113252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Documenting these boundaries ensures clear communication and supports responsible data interpretation.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396555"/>
            <a:ext cx="40421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Synthetic Demonstration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53730"/>
            <a:ext cx="3174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7F1D1D"/>
                </a:solidFill>
                <a:latin typeface="Plus Jakarta Sans"/>
              </a:rPr>
              <a:t>Current numbers are simulated and do not reflect verified Vellore ground conditions.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075" y="3396555"/>
            <a:ext cx="40421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Centroid Approximations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3653730"/>
            <a:ext cx="3174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7F1D1D"/>
                </a:solidFill>
                <a:latin typeface="Plus Jakarta Sans"/>
              </a:rPr>
              <a:t>Locations are represented as point coordinates rather than precise administrative boundaries.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6325" y="3396555"/>
            <a:ext cx="396567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External Map Dependencies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6325" y="3653730"/>
            <a:ext cx="31749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7F1D1D"/>
                </a:solidFill>
                <a:latin typeface="Plus Jakarta Sans"/>
              </a:rPr>
              <a:t>Cartographic basemaps require active network access to OpenStreetMap and Esri tile servers.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81700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736949"/>
            <a:ext cx="3479750" cy="1652587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736949"/>
            <a:ext cx="3479750" cy="1652587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736949"/>
            <a:ext cx="3479750" cy="1652587"/>
          </a:xfrm>
          <a:prstGeom prst="roundRect">
            <a:avLst>
              <a:gd name="adj" fmla="val 69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3013174"/>
            <a:ext cx="619125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94175" y="3013174"/>
            <a:ext cx="619125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64425" y="3013174"/>
            <a:ext cx="619125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18.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33425"/>
            <a:ext cx="115062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Future Work &amp; Scalability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6096000"/>
            <a:ext cx="11334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Long-Term Vision: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Establishing a replicable open-source analytics template adaptable to any mid-tier smart city in India.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032224"/>
            <a:ext cx="561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JetBrains Mono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308449"/>
            <a:ext cx="394209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Predictive ML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594199"/>
            <a:ext cx="3098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Integrate time-series forecasting (ARIMA / Prophet) to predict seasonal traffic peaks and air pollution spikes.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375" y="3032224"/>
            <a:ext cx="561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JetBrains Mono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175" y="3308449"/>
            <a:ext cx="394209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Road Network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175" y="3594199"/>
            <a:ext cx="3098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Integrate OpenStreetMap routing engines for real-time travel time, emergency dispatch, and detour analyses.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0625" y="3032224"/>
            <a:ext cx="561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JetBrains Mono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425" y="3308449"/>
            <a:ext cx="392757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Automated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4425" y="3594199"/>
            <a:ext cx="3098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Develop an RMarkdown PDF generator producing automated monthly executive municipal dossiers with one click.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24225" y="3639442"/>
            <a:ext cx="5543550" cy="942975"/>
          </a:xfrm>
          <a:prstGeom prst="roundRect">
            <a:avLst>
              <a:gd name="adj" fmla="val 12121"/>
            </a:avLst>
          </a:prstGeom>
          <a:solidFill>
            <a:srgbClr val="11151D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3901380"/>
            <a:ext cx="9525" cy="419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29125" y="1846957"/>
            <a:ext cx="3333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20D6C7"/>
                </a:solidFill>
                <a:latin typeface="JetBrains Mono"/>
              </a:rPr>
              <a:t>SUMMARY &amp; PROJECT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4571" y="2142232"/>
            <a:ext cx="2862857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450" i="0" u="none">
                <a:solidFill>
                  <a:srgbClr val="F8FAFC"/>
                </a:solidFill>
                <a:latin typeface="Space Grotesk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2820292"/>
            <a:ext cx="8096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CityPulse 360° demonstrates that smarter urban planning starts with responsible data validation, clear visual encodings, and interactive geospatial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9625" y="4849117"/>
            <a:ext cx="2952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JetBrains Mono"/>
              </a:rPr>
              <a:t>Questions &amp; Discussion Welcomed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0950" y="3839467"/>
            <a:ext cx="2214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LEAD RESEARCHER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0950" y="4001392"/>
            <a:ext cx="2214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Manthena Sri Adithya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0950" y="4220467"/>
            <a:ext cx="2214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0D6C7"/>
                </a:solidFill>
                <a:latin typeface="JetBrains Mono"/>
              </a:rPr>
              <a:t>24MID0177 • SCOPE, VIT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844230"/>
            <a:ext cx="2202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FACULTY MENTOR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006155"/>
            <a:ext cx="22026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Dr. Yuvaraj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4225230"/>
            <a:ext cx="2202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Vellore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